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269" r:id="rId6"/>
    <p:sldId id="262" r:id="rId7"/>
    <p:sldId id="260" r:id="rId8"/>
    <p:sldId id="263" r:id="rId9"/>
    <p:sldId id="264" r:id="rId10"/>
    <p:sldId id="265" r:id="rId11"/>
    <p:sldId id="275" r:id="rId12"/>
    <p:sldId id="266" r:id="rId13"/>
    <p:sldId id="270" r:id="rId14"/>
    <p:sldId id="271" r:id="rId15"/>
    <p:sldId id="272" r:id="rId16"/>
    <p:sldId id="273" r:id="rId17"/>
    <p:sldId id="276" r:id="rId18"/>
    <p:sldId id="274" r:id="rId19"/>
  </p:sldIdLst>
  <p:sldSz cx="12192000" cy="6858000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93933-D9A6-08F8-4B9C-C32374621DC9}" v="94" dt="2025-12-02T18:56:23.598"/>
    <p1510:client id="{A76FB208-1B41-8345-87FD-25D02272FFC0}" v="95" dt="2025-12-02T20:08:45.695"/>
    <p1510:client id="{AE506D5A-EEE2-1447-B58A-8FF64C7B7FC2}" v="3" dt="2025-12-02T06:11:30.842"/>
    <p1510:client id="{B14D1281-33A6-8001-970F-F15135A07064}" v="623" dt="2025-12-02T18:41:37.021"/>
    <p1510:client id="{E248AB70-53D0-17FF-695C-ABB1466FC816}" v="20" dt="2025-12-02T19:53:19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BF6B2-935F-1845-B04B-9EB2B633B49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3BBA-5B94-8546-8F65-BA61F91B0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8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C0C9-DC2A-A0B7-08DC-D74250B04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584"/>
          </a:xfrm>
          <a:prstGeom prst="roundRect">
            <a:avLst/>
          </a:prstGeom>
          <a:solidFill>
            <a:srgbClr val="2F5497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 anchorCtr="0">
            <a:normAutofit/>
          </a:bodyPr>
          <a:lstStyle>
            <a:lvl1pPr>
              <a:defRPr lang="en-US" sz="400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43ABE-8E3F-9F55-FA08-92FB5B68D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26681-0ACF-0C6A-7D5B-718296BA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EBFC-0E7B-E696-B999-E9BF1A12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00" y="6349854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7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D268-6054-696B-D10D-77B2753E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A7A72-9D1F-D897-4903-824D59E5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>
              <a:defRPr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>
              <a:defRPr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>
              <a:defRPr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>
              <a:defRPr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302DE-7E77-71ED-2E7B-1109B2CE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2" descr="University of Memphis Logo">
            <a:extLst>
              <a:ext uri="{FF2B5EF4-FFF2-40B4-BE49-F238E27FC236}">
                <a16:creationId xmlns:a16="http://schemas.microsoft.com/office/drawing/2014/main" id="{9EB334BE-F2D4-2E02-5BA9-5001526A9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0"/>
          <a:stretch>
            <a:fillRect/>
          </a:stretch>
        </p:blipFill>
        <p:spPr bwMode="auto">
          <a:xfrm>
            <a:off x="10417996" y="6132269"/>
            <a:ext cx="1672404" cy="72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B59065E-345A-868D-8714-380479D3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hape 140">
            <a:extLst>
              <a:ext uri="{FF2B5EF4-FFF2-40B4-BE49-F238E27FC236}">
                <a16:creationId xmlns:a16="http://schemas.microsoft.com/office/drawing/2014/main" id="{E7C5E526-6428-EBF3-2A97-BD71985A79EF}"/>
              </a:ext>
            </a:extLst>
          </p:cNvPr>
          <p:cNvCxnSpPr>
            <a:cxnSpLocks/>
          </p:cNvCxnSpPr>
          <p:nvPr userDrawn="1"/>
        </p:nvCxnSpPr>
        <p:spPr>
          <a:xfrm>
            <a:off x="285750" y="751972"/>
            <a:ext cx="1155573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6025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E333-BADC-12A6-32C6-8E77C1E3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accent1">
                    <a:lumMod val="7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37D84-CC90-1963-7BB8-DADD2040C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C4512-8EDC-CD78-C982-7B6F08D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4CCD2-8488-8CE5-82D0-CBC12AE2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85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0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9CDD-3DB7-0C4A-EE77-041EB8CF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kern="1200" dirty="0">
                <a:solidFill>
                  <a:schemeClr val="accent1">
                    <a:lumMod val="7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6279D-464C-4B07-EEA7-A45EB89DB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76E96-43B4-7586-59EB-094902440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0CF0C-ECAE-6C11-BC48-32047259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F4466-1AA2-7DF0-710C-03FF14EB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hape 140">
            <a:extLst>
              <a:ext uri="{FF2B5EF4-FFF2-40B4-BE49-F238E27FC236}">
                <a16:creationId xmlns:a16="http://schemas.microsoft.com/office/drawing/2014/main" id="{95F45513-FA17-21F5-A5A3-42070032EBA5}"/>
              </a:ext>
            </a:extLst>
          </p:cNvPr>
          <p:cNvCxnSpPr>
            <a:cxnSpLocks/>
          </p:cNvCxnSpPr>
          <p:nvPr userDrawn="1"/>
        </p:nvCxnSpPr>
        <p:spPr>
          <a:xfrm>
            <a:off x="285750" y="751972"/>
            <a:ext cx="1155573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13538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D9AF-BF23-03B9-F938-FEF5D7EF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256"/>
            <a:ext cx="10515600" cy="813951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kern="1200" dirty="0">
                <a:solidFill>
                  <a:schemeClr val="accent1">
                    <a:lumMod val="7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FE37E-24A9-409A-5FD0-788748A7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9F93D-67F6-809A-1F75-50CEAD40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hape 140">
            <a:extLst>
              <a:ext uri="{FF2B5EF4-FFF2-40B4-BE49-F238E27FC236}">
                <a16:creationId xmlns:a16="http://schemas.microsoft.com/office/drawing/2014/main" id="{FA084DEE-7C72-F540-BAF5-8E29D95E8AC7}"/>
              </a:ext>
            </a:extLst>
          </p:cNvPr>
          <p:cNvCxnSpPr>
            <a:cxnSpLocks/>
          </p:cNvCxnSpPr>
          <p:nvPr userDrawn="1"/>
        </p:nvCxnSpPr>
        <p:spPr>
          <a:xfrm>
            <a:off x="285750" y="751972"/>
            <a:ext cx="1155573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1377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ED6A1-C3A2-B99A-09D4-AB07B2CB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E96BE-DFD0-F09F-DE09-62659FEC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6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140">
            <a:extLst>
              <a:ext uri="{FF2B5EF4-FFF2-40B4-BE49-F238E27FC236}">
                <a16:creationId xmlns:a16="http://schemas.microsoft.com/office/drawing/2014/main" id="{95F65DE4-B18E-424B-8901-D50364AE6D67}"/>
              </a:ext>
            </a:extLst>
          </p:cNvPr>
          <p:cNvCxnSpPr>
            <a:cxnSpLocks/>
          </p:cNvCxnSpPr>
          <p:nvPr/>
        </p:nvCxnSpPr>
        <p:spPr>
          <a:xfrm>
            <a:off x="285750" y="751972"/>
            <a:ext cx="1155573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28575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9058031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85F7D7F1-89F3-584A-8F95-A77F8B5A1E0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itle Placeholder 3"/>
          <p:cNvSpPr>
            <a:spLocks noGrp="1"/>
          </p:cNvSpPr>
          <p:nvPr>
            <p:ph type="title"/>
          </p:nvPr>
        </p:nvSpPr>
        <p:spPr>
          <a:xfrm>
            <a:off x="550985" y="54708"/>
            <a:ext cx="11090031" cy="6955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50985" y="820615"/>
            <a:ext cx="11090153" cy="5314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957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4D4D5-569D-C702-6A3D-E097E0C6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256"/>
            <a:ext cx="10515600" cy="937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7A3B6-036C-CD84-5CB8-B6E774E6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0F22ED-8BE5-C398-CA99-3EB549B91FD6}"/>
              </a:ext>
            </a:extLst>
          </p:cNvPr>
          <p:cNvSpPr/>
          <p:nvPr/>
        </p:nvSpPr>
        <p:spPr>
          <a:xfrm>
            <a:off x="0" y="6132269"/>
            <a:ext cx="12192000" cy="72121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University of Memphis Logo">
            <a:extLst>
              <a:ext uri="{FF2B5EF4-FFF2-40B4-BE49-F238E27FC236}">
                <a16:creationId xmlns:a16="http://schemas.microsoft.com/office/drawing/2014/main" id="{7E636B40-6167-D5DE-1AF6-F2A2BAE21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0"/>
          <a:stretch>
            <a:fillRect/>
          </a:stretch>
        </p:blipFill>
        <p:spPr bwMode="auto">
          <a:xfrm>
            <a:off x="10417996" y="6132269"/>
            <a:ext cx="1672404" cy="72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6317-E704-7956-E209-008C76E9F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2050" name="Picture 2" descr="Memphis Tigers - Wikipedia">
            <a:extLst>
              <a:ext uri="{FF2B5EF4-FFF2-40B4-BE49-F238E27FC236}">
                <a16:creationId xmlns:a16="http://schemas.microsoft.com/office/drawing/2014/main" id="{D94CEEC8-046F-E114-15C7-3B160EF6C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49" y="6176963"/>
            <a:ext cx="702447" cy="61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BB144-00A4-2234-5935-224AB568B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59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E5BE0C4E-B458-5241-9E21-2765BBB0AB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5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73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dirty="0" smtClean="0">
          <a:solidFill>
            <a:schemeClr val="accent1">
              <a:lumMod val="75000"/>
            </a:schemeClr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4CD60E-2608-C20F-1058-A1E6D0B08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Credit card fraud detection: A Machine learning Approach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85E978-167D-04AA-6984-6A4520086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838"/>
            <a:ext cx="9144000" cy="8753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MU Sans Serif Medium"/>
              </a:rPr>
              <a:t> Md Al Imran H Sharker, Sajal Das Shovon, and Sunil Tamang</a:t>
            </a:r>
          </a:p>
          <a:p>
            <a:endParaRPr lang="en-US">
              <a:latin typeface="CMU Sans Serif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36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4352-DC77-2BE4-B6D7-35A53596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256"/>
            <a:ext cx="10515600" cy="753904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7102B-0683-573D-1ADE-4C5B6575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2</a:t>
            </a:fld>
            <a:endParaRPr lang="en-US"/>
          </a:p>
        </p:txBody>
      </p:sp>
      <p:pic>
        <p:nvPicPr>
          <p:cNvPr id="1028" name="Picture 4" descr="Credit Card Fraud Detection Using SMOTE Technique – AI Journey">
            <a:extLst>
              <a:ext uri="{FF2B5EF4-FFF2-40B4-BE49-F238E27FC236}">
                <a16:creationId xmlns:a16="http://schemas.microsoft.com/office/drawing/2014/main" id="{E0E558CB-C9F9-2C7C-2D46-316B61B850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428" y="1457176"/>
            <a:ext cx="4374038" cy="326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D89A52-3531-D341-2AC9-BAF6E40D90A6}"/>
              </a:ext>
            </a:extLst>
          </p:cNvPr>
          <p:cNvSpPr txBox="1"/>
          <p:nvPr/>
        </p:nvSpPr>
        <p:spPr>
          <a:xfrm>
            <a:off x="627572" y="1166842"/>
            <a:ext cx="62669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Credit-card fraud leads to </a:t>
            </a:r>
            <a:r>
              <a:rPr lang="en-US" sz="2400" b="1"/>
              <a:t>significant financial losses</a:t>
            </a:r>
            <a:r>
              <a:rPr lang="en-US" sz="2400"/>
              <a:t> for banks, merchants, and customers every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Fraud incidents reduce </a:t>
            </a:r>
            <a:r>
              <a:rPr lang="en-US" sz="2400" b="1"/>
              <a:t>consumer trust</a:t>
            </a:r>
            <a:r>
              <a:rPr lang="en-US" sz="2400"/>
              <a:t> in online and contactless payments, slowing digital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Detecting fraud quickly helps prevent </a:t>
            </a:r>
            <a:r>
              <a:rPr lang="en-US" sz="2400" b="1"/>
              <a:t>chargebacks, legal disputes, and operational overhead</a:t>
            </a:r>
            <a:r>
              <a:rPr lang="en-US" sz="2400"/>
              <a:t> </a:t>
            </a:r>
            <a:endParaRPr lang="en-US" sz="240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/>
              <a:t>Strong fraud detection improves </a:t>
            </a:r>
            <a:r>
              <a:rPr lang="en-US" sz="2400" b="1"/>
              <a:t>transaction security</a:t>
            </a:r>
            <a:r>
              <a:rPr lang="en-US" sz="2400"/>
              <a:t>, protects customer data, and supports a safer financial ecosystem.</a:t>
            </a:r>
            <a:endParaRPr lang="en-US" sz="240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4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AE20-B28E-8749-07B5-2830C8C9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216BE-D2E1-2174-935C-495630DB7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248" y="958910"/>
            <a:ext cx="10515600" cy="492830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Goal: </a:t>
            </a:r>
            <a:r>
              <a:rPr lang="en-US"/>
              <a:t>Automatically classify transactions as </a:t>
            </a:r>
            <a:r>
              <a:rPr lang="en-US" i="1"/>
              <a:t>legitimate</a:t>
            </a:r>
            <a:r>
              <a:rPr lang="en-US"/>
              <a:t> or </a:t>
            </a:r>
            <a:r>
              <a:rPr lang="en-US" i="1"/>
              <a:t>fraudulent</a:t>
            </a:r>
            <a:r>
              <a:rPr lang="en-US"/>
              <a:t> using historical transaction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Challenge: </a:t>
            </a:r>
            <a:r>
              <a:rPr lang="en-US"/>
              <a:t>Fraud behavior is </a:t>
            </a:r>
            <a:r>
              <a:rPr lang="en-US" b="1"/>
              <a:t>complex and constantly changing</a:t>
            </a:r>
            <a:r>
              <a:rPr lang="en-US"/>
              <a:t>, making patterns hard to capture with fixed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Real-world constraints: </a:t>
            </a:r>
            <a:r>
              <a:rPr lang="en-US"/>
              <a:t>Decisions must be </a:t>
            </a:r>
            <a:r>
              <a:rPr lang="en-US" b="1"/>
              <a:t>fast and scalable</a:t>
            </a:r>
            <a:r>
              <a:rPr lang="en-US"/>
              <a:t> (high transaction volume, near real-time screening).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Error impact: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False negatives</a:t>
            </a:r>
            <a:r>
              <a:rPr lang="en-US"/>
              <a:t> (missed fraud) → direct financial loss and security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False positives</a:t>
            </a:r>
            <a:r>
              <a:rPr lang="en-US"/>
              <a:t> (legit flagged) → customer frustration and operational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Requirement: The model should be </a:t>
            </a:r>
            <a:r>
              <a:rPr lang="en-US" b="1"/>
              <a:t>reliable and explainable</a:t>
            </a:r>
            <a:r>
              <a:rPr lang="en-US"/>
              <a:t> so analysts can trust and act on the alerts.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EBC16-27D1-A24C-6F33-4CCCC1B4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4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7963-041D-DEAE-F453-3313B8A4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CFEC5-36F8-5BD8-8DA8-7721053F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041"/>
            <a:ext cx="6567651" cy="4775200"/>
          </a:xfrm>
        </p:spPr>
        <p:txBody>
          <a:bodyPr>
            <a:normAutofit lnSpcReduction="10000"/>
          </a:bodyPr>
          <a:lstStyle/>
          <a:p>
            <a:r>
              <a:rPr lang="en-US" b="1"/>
              <a:t>Source:</a:t>
            </a:r>
            <a:r>
              <a:rPr lang="en-US"/>
              <a:t> Kaggle “Credit Card Fraud Detection” dataset (European card transactions).</a:t>
            </a:r>
          </a:p>
          <a:p>
            <a:r>
              <a:rPr lang="en-US" b="1"/>
              <a:t>Size:</a:t>
            </a:r>
            <a:r>
              <a:rPr lang="en-US"/>
              <a:t> ~284,807 transactions with </a:t>
            </a:r>
            <a:r>
              <a:rPr lang="en-US" b="1"/>
              <a:t>492 fraud</a:t>
            </a:r>
            <a:r>
              <a:rPr lang="en-US"/>
              <a:t> cases (~</a:t>
            </a:r>
            <a:r>
              <a:rPr lang="en-US" b="1"/>
              <a:t>0.17%</a:t>
            </a:r>
            <a:r>
              <a:rPr lang="en-US"/>
              <a:t>).</a:t>
            </a:r>
          </a:p>
          <a:p>
            <a:r>
              <a:rPr lang="en-US" b="1"/>
              <a:t>Features:</a:t>
            </a:r>
            <a:r>
              <a:rPr lang="en-US"/>
              <a:t> </a:t>
            </a:r>
            <a:r>
              <a:rPr lang="en-US" b="1"/>
              <a:t>V1–V28</a:t>
            </a:r>
            <a:r>
              <a:rPr lang="en-US"/>
              <a:t> (anonymized numerical features) + </a:t>
            </a:r>
            <a:r>
              <a:rPr lang="en-US" b="1"/>
              <a:t>Amount</a:t>
            </a:r>
            <a:r>
              <a:rPr lang="en-US"/>
              <a:t> + </a:t>
            </a:r>
            <a:r>
              <a:rPr lang="en-US" b="1"/>
              <a:t>Time</a:t>
            </a:r>
            <a:r>
              <a:rPr lang="en-US"/>
              <a:t>.</a:t>
            </a:r>
          </a:p>
          <a:p>
            <a:r>
              <a:rPr lang="en-US" b="1"/>
              <a:t>Label:</a:t>
            </a:r>
            <a:r>
              <a:rPr lang="en-US"/>
              <a:t> </a:t>
            </a:r>
            <a:r>
              <a:rPr lang="en-US" b="1"/>
              <a:t>Class</a:t>
            </a:r>
            <a:r>
              <a:rPr lang="en-US"/>
              <a:t> (0 = legitimate, 1 = fraud).</a:t>
            </a:r>
          </a:p>
          <a:p>
            <a:r>
              <a:rPr lang="en-US" b="1"/>
              <a:t>Why it’s useful:</a:t>
            </a:r>
            <a:r>
              <a:rPr lang="en-US"/>
              <a:t> Realistic benchmark for testing fraud models on large-scale transaction data.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D9E3D-F1E8-9039-70FA-DA0580BA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A green circle with black text&#10;&#10;AI-generated content may be incorrect.">
            <a:extLst>
              <a:ext uri="{FF2B5EF4-FFF2-40B4-BE49-F238E27FC236}">
                <a16:creationId xmlns:a16="http://schemas.microsoft.com/office/drawing/2014/main" id="{44D6768C-165B-7193-ABDC-8AD7BD832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851" y="1145541"/>
            <a:ext cx="4428797" cy="459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0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B1A3-F508-2B41-487C-2707A7DE6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Dataset Description</a:t>
            </a:r>
          </a:p>
        </p:txBody>
      </p:sp>
      <p:pic>
        <p:nvPicPr>
          <p:cNvPr id="6" name="Content Placeholder 5" descr="A graph showing a graph showing a number of points&#10;&#10;AI-generated content may be incorrect.">
            <a:extLst>
              <a:ext uri="{FF2B5EF4-FFF2-40B4-BE49-F238E27FC236}">
                <a16:creationId xmlns:a16="http://schemas.microsoft.com/office/drawing/2014/main" id="{4786438E-325E-3739-D3B6-FF1CE5EA98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056" y="1262499"/>
            <a:ext cx="5404945" cy="41323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A0AE-6025-9386-08B6-1F08ADBA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9" descr="A graph showing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47431C4B-8963-4F46-359B-E0540CD7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143" y="1262499"/>
            <a:ext cx="5677985" cy="40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3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9B0F-1AA9-F34B-193E-CF64683E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C5D4-3E8C-D2FC-6095-6FBA88A69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880"/>
            <a:ext cx="10515600" cy="4978083"/>
          </a:xfrm>
        </p:spPr>
        <p:txBody>
          <a:bodyPr/>
          <a:lstStyle/>
          <a:p>
            <a:r>
              <a:rPr lang="en-US" b="1"/>
              <a:t>Extreme class imbalance:</a:t>
            </a:r>
            <a:r>
              <a:rPr lang="en-US"/>
              <a:t> fraud is only ~</a:t>
            </a:r>
            <a:r>
              <a:rPr lang="en-US" b="1"/>
              <a:t>0.17%</a:t>
            </a:r>
            <a:r>
              <a:rPr lang="en-US"/>
              <a:t> (492 out of ~284K), so models can look “accurate” while missing fraud.</a:t>
            </a:r>
          </a:p>
          <a:p>
            <a:r>
              <a:rPr lang="en-US" b="1"/>
              <a:t>Minority-class learning is difficult:</a:t>
            </a:r>
            <a:r>
              <a:rPr lang="en-US"/>
              <a:t> very few fraud examples to learn stable patterns compared to massive legitimate class.</a:t>
            </a:r>
          </a:p>
          <a:p>
            <a:r>
              <a:rPr lang="en-US" b="1"/>
              <a:t>Misleading metrics:</a:t>
            </a:r>
            <a:r>
              <a:rPr lang="en-US"/>
              <a:t> overall accuracy is not meaningful; performance must focus on fraud precision/recall and PR curves.</a:t>
            </a:r>
          </a:p>
          <a:p>
            <a:r>
              <a:rPr lang="en-US" b="1"/>
              <a:t>High false-alarm risk:</a:t>
            </a:r>
            <a:r>
              <a:rPr lang="en-US"/>
              <a:t> imbalance can cause models to either ignore fraud (low recall) or over-flag legitimate transactions (low precision).</a:t>
            </a:r>
          </a:p>
          <a:p>
            <a:r>
              <a:rPr lang="en-US" b="1"/>
              <a:t>Threshold sensitivity:</a:t>
            </a:r>
            <a:r>
              <a:rPr lang="en-US"/>
              <a:t> small threshold changes can strongly affect fraud capture vs false positives due to the skewed class distribution.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4E937-9071-70A6-AD54-79FF5CC2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3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64C6-29D7-7BE0-1C64-5508BB61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64D99-CCFC-6689-8830-0CC917B5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098"/>
            <a:ext cx="10515600" cy="485577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latin typeface="CMU Sans Serif Medium"/>
              </a:rPr>
              <a:t>Imbalanced-learning work recommends </a:t>
            </a:r>
            <a:r>
              <a:rPr lang="en-US" b="1">
                <a:latin typeface="CMU Sans Serif Medium"/>
              </a:rPr>
              <a:t>rebalancing / cost-sensitive / ensemble</a:t>
            </a:r>
            <a:r>
              <a:rPr lang="en-US">
                <a:latin typeface="CMU Sans Serif Medium"/>
              </a:rPr>
              <a:t> strategies and cautions that </a:t>
            </a:r>
            <a:r>
              <a:rPr lang="en-US" b="1">
                <a:latin typeface="CMU Sans Serif Medium"/>
              </a:rPr>
              <a:t>accuracy is misleading</a:t>
            </a:r>
            <a:r>
              <a:rPr lang="en-US">
                <a:latin typeface="CMU Sans Serif Medium"/>
              </a:rPr>
              <a:t> on skewed data </a:t>
            </a:r>
            <a:r>
              <a:rPr lang="en-US" b="1">
                <a:latin typeface="CMU Sans Serif Medium"/>
              </a:rPr>
              <a:t>[1]</a:t>
            </a:r>
            <a:r>
              <a:rPr lang="en-US">
                <a:latin typeface="CMU Sans Serif Medium"/>
              </a:rPr>
              <a:t>.</a:t>
            </a:r>
          </a:p>
          <a:p>
            <a:r>
              <a:rPr lang="en-US" b="1">
                <a:latin typeface="CMU Sans Serif Medium"/>
              </a:rPr>
              <a:t>SMOTE</a:t>
            </a:r>
            <a:r>
              <a:rPr lang="en-US">
                <a:latin typeface="CMU Sans Serif Medium"/>
              </a:rPr>
              <a:t> is a common oversampling method to strengthen minority-class learning </a:t>
            </a:r>
            <a:r>
              <a:rPr lang="en-US" b="1">
                <a:latin typeface="CMU Sans Serif Medium"/>
              </a:rPr>
              <a:t>[2]</a:t>
            </a:r>
            <a:r>
              <a:rPr lang="en-US">
                <a:latin typeface="CMU Sans Serif Medium"/>
              </a:rPr>
              <a:t>.</a:t>
            </a:r>
          </a:p>
          <a:p>
            <a:r>
              <a:rPr lang="en-US">
                <a:latin typeface="CMU Sans Serif Medium"/>
              </a:rPr>
              <a:t>For evaluation, </a:t>
            </a:r>
            <a:r>
              <a:rPr lang="en-US" b="1">
                <a:latin typeface="CMU Sans Serif Medium"/>
              </a:rPr>
              <a:t>PR curves</a:t>
            </a:r>
            <a:r>
              <a:rPr lang="en-US">
                <a:latin typeface="CMU Sans Serif Medium"/>
              </a:rPr>
              <a:t> are often more informative than ROC under heavy imbalance, and </a:t>
            </a:r>
            <a:r>
              <a:rPr lang="en-US" b="1">
                <a:latin typeface="CMU Sans Serif Medium"/>
              </a:rPr>
              <a:t>calibration/Brier score</a:t>
            </a:r>
            <a:r>
              <a:rPr lang="en-US">
                <a:latin typeface="CMU Sans Serif Medium"/>
              </a:rPr>
              <a:t> supports reliable thresholding </a:t>
            </a:r>
            <a:r>
              <a:rPr lang="en-US" b="1">
                <a:latin typeface="CMU Sans Serif Medium"/>
              </a:rPr>
              <a:t>[3,4]</a:t>
            </a:r>
            <a:r>
              <a:rPr lang="en-US">
                <a:latin typeface="CMU Sans Serif Medium"/>
              </a:rPr>
              <a:t>.</a:t>
            </a:r>
          </a:p>
          <a:p>
            <a:r>
              <a:rPr lang="en-US">
                <a:latin typeface="CMU Sans Serif Medium"/>
              </a:rPr>
              <a:t>Many studies find </a:t>
            </a:r>
            <a:r>
              <a:rPr lang="en-US" b="1">
                <a:latin typeface="CMU Sans Serif Medium"/>
              </a:rPr>
              <a:t>tree ensembles / boosting (RF, </a:t>
            </a:r>
            <a:r>
              <a:rPr lang="en-US" b="1" err="1">
                <a:latin typeface="CMU Sans Serif Medium"/>
              </a:rPr>
              <a:t>XGBoost</a:t>
            </a:r>
            <a:r>
              <a:rPr lang="en-US" b="1">
                <a:latin typeface="CMU Sans Serif Medium"/>
              </a:rPr>
              <a:t>)</a:t>
            </a:r>
            <a:r>
              <a:rPr lang="en-US">
                <a:latin typeface="CMU Sans Serif Medium"/>
              </a:rPr>
              <a:t> perform strongly on transaction data </a:t>
            </a:r>
            <a:r>
              <a:rPr lang="en-US" b="1">
                <a:latin typeface="CMU Sans Serif Medium"/>
              </a:rPr>
              <a:t>[4,5,6,7]</a:t>
            </a:r>
            <a:r>
              <a:rPr lang="en-US">
                <a:latin typeface="CMU Sans Serif Medium"/>
              </a:rPr>
              <a:t>.</a:t>
            </a:r>
          </a:p>
          <a:p>
            <a:r>
              <a:rPr lang="en-US">
                <a:latin typeface="CMU Sans Serif Medium"/>
              </a:rPr>
              <a:t>Gap: limited </a:t>
            </a:r>
            <a:r>
              <a:rPr lang="en-US" b="1">
                <a:latin typeface="CMU Sans Serif Medium"/>
              </a:rPr>
              <a:t>threshold optimization</a:t>
            </a:r>
            <a:r>
              <a:rPr lang="en-US">
                <a:latin typeface="CMU Sans Serif Medium"/>
              </a:rPr>
              <a:t> and fewer unified comparisons of </a:t>
            </a:r>
            <a:r>
              <a:rPr lang="en-US" b="1">
                <a:latin typeface="CMU Sans Serif Medium"/>
              </a:rPr>
              <a:t>class weighting vs SMOTE vs </a:t>
            </a:r>
            <a:r>
              <a:rPr lang="en-US" b="1" err="1">
                <a:latin typeface="CMU Sans Serif Medium"/>
              </a:rPr>
              <a:t>undersampling</a:t>
            </a:r>
            <a:r>
              <a:rPr lang="en-US">
                <a:latin typeface="CMU Sans Serif Medium"/>
              </a:rPr>
              <a:t> with interpretability.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2B40F-983F-557A-F435-32923FDE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C8C7-3261-CCD3-71BD-71CC2469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pic>
        <p:nvPicPr>
          <p:cNvPr id="5" name="Content Placeholder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9C450372-0E27-74E1-77F2-FBBA28D16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09" y="3846829"/>
            <a:ext cx="11882477" cy="17500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2FC83-D1B2-EDE3-EE00-1CA1455C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99170-2C52-DECB-4A1D-6ABDA322AD80}"/>
              </a:ext>
            </a:extLst>
          </p:cNvPr>
          <p:cNvSpPr txBox="1"/>
          <p:nvPr/>
        </p:nvSpPr>
        <p:spPr>
          <a:xfrm>
            <a:off x="725713" y="1124855"/>
            <a:ext cx="1093471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Data prep:</a:t>
            </a:r>
            <a:r>
              <a:rPr lang="en-US" sz="2000">
                <a:ea typeface="+mn-lt"/>
                <a:cs typeface="+mn-lt"/>
              </a:rPr>
              <a:t> load dataset, clean labels, and perform a stratified train/test split.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Feature processing + exploration:</a:t>
            </a:r>
            <a:r>
              <a:rPr lang="en-US" sz="2000">
                <a:ea typeface="+mn-lt"/>
                <a:cs typeface="+mn-lt"/>
              </a:rPr>
              <a:t> standardize features (train-only fit) and visualize structure using PCA and t-SNE.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Imbalance-aware modeling:</a:t>
            </a:r>
            <a:r>
              <a:rPr lang="en-US" sz="2000">
                <a:ea typeface="+mn-lt"/>
                <a:cs typeface="+mn-lt"/>
              </a:rPr>
              <a:t> apply class weights/SMOTE/</a:t>
            </a:r>
            <a:r>
              <a:rPr lang="en-US" sz="2000" err="1">
                <a:ea typeface="+mn-lt"/>
                <a:cs typeface="+mn-lt"/>
              </a:rPr>
              <a:t>undersampling</a:t>
            </a:r>
            <a:r>
              <a:rPr lang="en-US" sz="2000">
                <a:ea typeface="+mn-lt"/>
                <a:cs typeface="+mn-lt"/>
              </a:rPr>
              <a:t> and train LR, DT, RF, XGB, and MLP models.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Model selection:</a:t>
            </a:r>
            <a:r>
              <a:rPr lang="en-US" sz="2000">
                <a:ea typeface="+mn-lt"/>
                <a:cs typeface="+mn-lt"/>
              </a:rPr>
              <a:t> evaluate with PR/ROC + key metrics, tune decision threshold, and interpret results using feature importance + SHAP.</a:t>
            </a:r>
            <a:endParaRPr lang="en-US" sz="2000"/>
          </a:p>
          <a:p>
            <a:pPr algn="l"/>
            <a:endParaRPr lang="en-US" sz="200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2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307D7-421B-B391-BB3E-A40A986B3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Imbalance Techniques</a:t>
            </a:r>
            <a:endParaRPr lang="en-US"/>
          </a:p>
        </p:txBody>
      </p:sp>
      <p:pic>
        <p:nvPicPr>
          <p:cNvPr id="5" name="Content Placeholder 4" descr="A white background with black text and symbols&#10;&#10;AI-generated content may be incorrect.">
            <a:extLst>
              <a:ext uri="{FF2B5EF4-FFF2-40B4-BE49-F238E27FC236}">
                <a16:creationId xmlns:a16="http://schemas.microsoft.com/office/drawing/2014/main" id="{51975D03-04CD-061E-0AA3-647B80DE0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967" y="854175"/>
            <a:ext cx="10115398" cy="52668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903F1-ABE9-6022-AF9A-3799965B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643A-7991-F787-B2B2-028BD918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Model architecture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F0B890D-DEC3-3CBE-8A8E-3AA7DAB1D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731" y="796782"/>
            <a:ext cx="9678155" cy="52234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6ABD0-8CA5-DBE5-DDFA-D9BF3BAC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C00D-9BAA-9F36-A4AE-36A827D6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Evaluation Matrix </a:t>
            </a:r>
            <a:endParaRPr lang="en-US"/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765EF9D-6FAE-0536-072E-FB9644519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890" y="954512"/>
            <a:ext cx="10968591" cy="50037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8D604-DD97-5A41-3844-363FB622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83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6987-1D2B-D28D-D79E-C7FD1BB1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Result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E27-F66C-0FFC-07E0-BFE1E3AAD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31" y="785020"/>
            <a:ext cx="11477298" cy="53919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CMU Sans Serif Medium"/>
              </a:rPr>
              <a:t>We evaluated multiple ML models:</a:t>
            </a:r>
            <a:br>
              <a:rPr lang="en-US" sz="2400"/>
            </a:br>
            <a:r>
              <a:rPr lang="en-US" sz="2400">
                <a:latin typeface="CMU Sans Serif Medium"/>
              </a:rPr>
              <a:t> </a:t>
            </a:r>
            <a:r>
              <a:rPr lang="en-US" sz="2400" b="1">
                <a:latin typeface="CMU Sans Serif Medium"/>
              </a:rPr>
              <a:t>Logistic Regression (LR), Decision Tree, Random Forest (RF), Balanced RF, </a:t>
            </a:r>
            <a:r>
              <a:rPr lang="en-US" sz="2400" b="1" err="1">
                <a:latin typeface="CMU Sans Serif Medium"/>
              </a:rPr>
              <a:t>XGBoost</a:t>
            </a:r>
            <a:r>
              <a:rPr lang="en-US" sz="2400" b="1">
                <a:latin typeface="CMU Sans Serif Medium"/>
              </a:rPr>
              <a:t>, MLP</a:t>
            </a:r>
            <a:endParaRPr lang="en-US" sz="2400">
              <a:latin typeface="CMU Sans Serif Medium"/>
            </a:endParaRPr>
          </a:p>
          <a:p>
            <a:r>
              <a:rPr lang="en-US" sz="2400">
                <a:latin typeface="CMU Sans Serif Medium"/>
              </a:rPr>
              <a:t>Metrics:</a:t>
            </a:r>
            <a:br>
              <a:rPr lang="en-US" sz="2400"/>
            </a:br>
            <a:r>
              <a:rPr lang="en-US" sz="2400">
                <a:latin typeface="CMU Sans Serif Medium"/>
              </a:rPr>
              <a:t> </a:t>
            </a:r>
            <a:r>
              <a:rPr lang="en-US" sz="2400" b="1">
                <a:latin typeface="CMU Sans Serif Medium"/>
              </a:rPr>
              <a:t>Precision, Recall, F1, MCC, ROC–AUC, Brier Score, Confusion Matrix</a:t>
            </a:r>
            <a:endParaRPr lang="en-US" sz="2400">
              <a:latin typeface="CMU Sans Serif Medium"/>
            </a:endParaRPr>
          </a:p>
          <a:p>
            <a:r>
              <a:rPr lang="en-US" sz="2400">
                <a:latin typeface="CMU Sans Serif Medium"/>
              </a:rPr>
              <a:t>Dataset is </a:t>
            </a:r>
            <a:r>
              <a:rPr lang="en-US" sz="2400" b="1">
                <a:latin typeface="CMU Sans Serif Medium"/>
              </a:rPr>
              <a:t>extremely imbalanced</a:t>
            </a:r>
            <a:r>
              <a:rPr lang="en-US" sz="2400">
                <a:latin typeface="CMU Sans Serif Medium"/>
              </a:rPr>
              <a:t> → metrics must be interpreted carefully.</a:t>
            </a:r>
          </a:p>
          <a:p>
            <a:pPr marL="0" indent="0">
              <a:buNone/>
            </a:pPr>
            <a:br>
              <a:rPr lang="en-US" sz="2400" b="1"/>
            </a:br>
            <a:r>
              <a:rPr lang="en-US" sz="2400" b="1">
                <a:latin typeface="CMU Sans Serif Medium"/>
              </a:rPr>
              <a:t> Tree-based ensembles dominate the performance landscape; linear and neural models behave very differently under imbalance.</a:t>
            </a:r>
            <a:endParaRPr lang="en-US" sz="2400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E2A58-5EBB-AADA-C5CB-545A0AA0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3A03-A3BB-81B3-291E-CA5B08BE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F93A-C838-7247-CF43-A7099311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Result Analysis</a:t>
            </a:r>
            <a:endParaRPr lang="en-US"/>
          </a:p>
        </p:txBody>
      </p:sp>
      <p:pic>
        <p:nvPicPr>
          <p:cNvPr id="5" name="Content Placeholder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F29A566-D9E2-DBF8-32DE-A6A887557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125" y="958162"/>
            <a:ext cx="10433481" cy="2781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13508-005C-B763-B14A-7EF2D578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89364-0D93-37E5-F50B-DE18F6AD7AF7}"/>
              </a:ext>
            </a:extLst>
          </p:cNvPr>
          <p:cNvSpPr txBox="1"/>
          <p:nvPr/>
        </p:nvSpPr>
        <p:spPr>
          <a:xfrm>
            <a:off x="226218" y="3607593"/>
            <a:ext cx="49375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ea typeface="+mn-lt"/>
                <a:cs typeface="+mn-lt"/>
              </a:rPr>
              <a:t>Random Forest &amp; Decision Tree</a:t>
            </a:r>
            <a:endParaRPr lang="en-GB">
              <a:latin typeface="CMU Sans Serif Medium" panose="02000603000000000000" pitchFamily="2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F1: </a:t>
            </a:r>
            <a:r>
              <a:rPr lang="en-GB" b="1">
                <a:ea typeface="+mn-lt"/>
                <a:cs typeface="+mn-lt"/>
              </a:rPr>
              <a:t>0.8364</a:t>
            </a:r>
            <a:r>
              <a:rPr lang="en-GB">
                <a:ea typeface="+mn-lt"/>
                <a:cs typeface="+mn-lt"/>
              </a:rPr>
              <a:t>, MCC: </a:t>
            </a:r>
            <a:r>
              <a:rPr lang="en-GB" b="1">
                <a:ea typeface="+mn-lt"/>
                <a:cs typeface="+mn-lt"/>
              </a:rPr>
              <a:t>0.8444</a:t>
            </a:r>
            <a:endParaRPr lang="en-GB"/>
          </a:p>
          <a:p>
            <a:pPr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High TP detection with almost </a:t>
            </a:r>
            <a:r>
              <a:rPr lang="en-GB" b="1">
                <a:ea typeface="+mn-lt"/>
                <a:cs typeface="+mn-lt"/>
              </a:rPr>
              <a:t>zero false positives</a:t>
            </a:r>
            <a:endParaRPr lang="en-GB"/>
          </a:p>
          <a:p>
            <a:pPr algn="l"/>
            <a:endParaRPr lang="en-GB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E5220-2DE1-B9CD-8BA4-076550AACD83}"/>
              </a:ext>
            </a:extLst>
          </p:cNvPr>
          <p:cNvSpPr txBox="1"/>
          <p:nvPr/>
        </p:nvSpPr>
        <p:spPr>
          <a:xfrm>
            <a:off x="6096000" y="3607594"/>
            <a:ext cx="480800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err="1">
                <a:ea typeface="+mn-lt"/>
                <a:cs typeface="+mn-lt"/>
              </a:rPr>
              <a:t>XGBoost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Best ROC–AUC (</a:t>
            </a:r>
            <a:r>
              <a:rPr lang="en-GB" b="1">
                <a:ea typeface="+mn-lt"/>
                <a:cs typeface="+mn-lt"/>
              </a:rPr>
              <a:t>0.9704</a:t>
            </a:r>
            <a:r>
              <a:rPr lang="en-GB">
                <a:ea typeface="+mn-lt"/>
                <a:cs typeface="+mn-lt"/>
              </a:rPr>
              <a:t>)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Best Recall (</a:t>
            </a:r>
            <a:r>
              <a:rPr lang="en-GB" b="1">
                <a:ea typeface="+mn-lt"/>
                <a:cs typeface="+mn-lt"/>
              </a:rPr>
              <a:t>0.7660</a:t>
            </a:r>
            <a:r>
              <a:rPr lang="en-GB">
                <a:ea typeface="+mn-lt"/>
                <a:cs typeface="+mn-lt"/>
              </a:rPr>
              <a:t>)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Very strong at capturing the fraud class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7A92B-385A-F341-2E1F-DEBAA246638D}"/>
              </a:ext>
            </a:extLst>
          </p:cNvPr>
          <p:cNvSpPr txBox="1"/>
          <p:nvPr/>
        </p:nvSpPr>
        <p:spPr>
          <a:xfrm>
            <a:off x="1177391" y="4810125"/>
            <a:ext cx="1027756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Models with the balanced dataset outperforms the plain models 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Capture the dataset imbalance problem perfectly which is the main goal of this project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Thanks to SMOTE technique</a:t>
            </a:r>
          </a:p>
          <a:p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8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B8EE9-9D1D-2A3D-DF85-36B06800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8C32-F780-1182-410B-911B57BA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Result Analysis</a:t>
            </a:r>
            <a:endParaRPr lang="en-US"/>
          </a:p>
        </p:txBody>
      </p:sp>
      <p:pic>
        <p:nvPicPr>
          <p:cNvPr id="5" name="Content Placeholder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659C3A0-1720-B6A0-D4B1-0FDF61352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869" y="846146"/>
            <a:ext cx="9826069" cy="24515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76BDC-2492-FD68-0059-CD7FDB45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00ABC-7A24-7F14-DE24-98659D2E9B09}"/>
              </a:ext>
            </a:extLst>
          </p:cNvPr>
          <p:cNvSpPr txBox="1"/>
          <p:nvPr/>
        </p:nvSpPr>
        <p:spPr>
          <a:xfrm>
            <a:off x="547457" y="3429000"/>
            <a:ext cx="476914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Decision Tree: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TP = 69, FN = 25</a:t>
            </a:r>
            <a:endParaRPr lang="en-US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/>
              <a:t>FP = </a:t>
            </a:r>
            <a:r>
              <a:rPr lang="en-US" b="1"/>
              <a:t>0</a:t>
            </a:r>
            <a:br>
              <a:rPr lang="en-US"/>
            </a:br>
            <a:r>
              <a:rPr lang="en-US"/>
              <a:t>→ Excellent operational reliability</a:t>
            </a:r>
            <a:endParaRPr lang="en-US">
              <a:ea typeface="Calibri"/>
              <a:cs typeface="Calibri"/>
            </a:endParaRPr>
          </a:p>
          <a:p>
            <a:pPr algn="l"/>
            <a:endParaRPr lang="en-GB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50560-E420-698E-F0F1-EE20BC90259E}"/>
              </a:ext>
            </a:extLst>
          </p:cNvPr>
          <p:cNvSpPr txBox="1"/>
          <p:nvPr/>
        </p:nvSpPr>
        <p:spPr>
          <a:xfrm>
            <a:off x="5755689" y="3429000"/>
            <a:ext cx="477654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425"/>
              </a:lnSpc>
            </a:pPr>
            <a:r>
              <a:rPr lang="en-US" sz="1800" b="1" baseline="0">
                <a:latin typeface="Calibri"/>
                <a:ea typeface="Segoe UI"/>
                <a:cs typeface="Segoe UI"/>
              </a:rPr>
              <a:t>Decision Tree</a:t>
            </a:r>
            <a:r>
              <a:rPr lang="en-US" b="1">
                <a:latin typeface="Calibri"/>
                <a:ea typeface="Segoe UI"/>
                <a:cs typeface="Segoe UI"/>
              </a:rPr>
              <a:t> (plain):</a:t>
            </a:r>
            <a:endParaRPr lang="en-US"/>
          </a:p>
          <a:p>
            <a:pPr>
              <a:lnSpc>
                <a:spcPts val="1425"/>
              </a:lnSpc>
            </a:pPr>
            <a:r>
              <a:rPr lang="en-US" sz="1800">
                <a:latin typeface="Calibri"/>
                <a:ea typeface="Segoe UI"/>
                <a:cs typeface="Segoe UI"/>
              </a:rPr>
              <a:t>​</a:t>
            </a:r>
            <a:endParaRPr lang="en-US"/>
          </a:p>
          <a:p>
            <a:pPr marL="228600" lvl="0" indent="-228600" rtl="0">
              <a:lnSpc>
                <a:spcPts val="1425"/>
              </a:lnSpc>
              <a:buFont typeface=""/>
              <a:buChar char="•"/>
            </a:pPr>
            <a:r>
              <a:rPr lang="en-US" sz="1800" baseline="0">
                <a:latin typeface="Calibri"/>
                <a:ea typeface="Arial"/>
                <a:cs typeface="Arial"/>
              </a:rPr>
              <a:t>TP = </a:t>
            </a:r>
            <a:r>
              <a:rPr lang="en-US">
                <a:latin typeface="Calibri"/>
                <a:ea typeface="Arial"/>
                <a:cs typeface="Arial"/>
              </a:rPr>
              <a:t>67</a:t>
            </a:r>
            <a:r>
              <a:rPr lang="en-US" sz="1800" baseline="0">
                <a:latin typeface="Calibri"/>
                <a:ea typeface="Arial"/>
                <a:cs typeface="Arial"/>
              </a:rPr>
              <a:t>, FN = </a:t>
            </a:r>
            <a:r>
              <a:rPr lang="en-US">
                <a:latin typeface="Calibri"/>
                <a:ea typeface="Arial"/>
                <a:cs typeface="Arial"/>
              </a:rPr>
              <a:t>27</a:t>
            </a:r>
            <a:endParaRPr lang="en-US" sz="1800">
              <a:latin typeface="Calibri"/>
              <a:ea typeface="Arial"/>
              <a:cs typeface="Arial"/>
            </a:endParaRPr>
          </a:p>
          <a:p>
            <a:pPr marL="228600" indent="-228600">
              <a:lnSpc>
                <a:spcPts val="1425"/>
              </a:lnSpc>
              <a:buFont typeface=""/>
              <a:buChar char="•"/>
            </a:pPr>
            <a:r>
              <a:rPr lang="en-US" sz="1800" baseline="0">
                <a:latin typeface="Calibri"/>
                <a:ea typeface="Arial"/>
                <a:cs typeface="Arial"/>
              </a:rPr>
              <a:t>FP = </a:t>
            </a:r>
            <a:r>
              <a:rPr lang="en-US" sz="1800" b="1" baseline="0">
                <a:latin typeface="Calibri"/>
                <a:ea typeface="Arial"/>
                <a:cs typeface="Arial"/>
              </a:rPr>
              <a:t>0</a:t>
            </a:r>
            <a:r>
              <a:rPr lang="en-US" sz="1800">
                <a:latin typeface="Calibri"/>
                <a:ea typeface="Arial"/>
                <a:cs typeface="Arial"/>
              </a:rPr>
              <a:t>​</a:t>
            </a:r>
            <a:br>
              <a:rPr lang="en-US" sz="1800">
                <a:latin typeface="Calibri"/>
                <a:ea typeface="Arial"/>
                <a:cs typeface="Arial"/>
              </a:rPr>
            </a:br>
            <a:r>
              <a:rPr lang="en-US" sz="1800" baseline="0">
                <a:latin typeface="Calibri"/>
                <a:ea typeface="Arial"/>
                <a:cs typeface="Arial"/>
              </a:rPr>
              <a:t>→ </a:t>
            </a:r>
            <a:r>
              <a:rPr lang="en-US">
                <a:latin typeface="Calibri"/>
                <a:ea typeface="Arial"/>
                <a:cs typeface="Arial"/>
              </a:rPr>
              <a:t>No FP but we need a trade-off</a:t>
            </a:r>
            <a:endParaRPr lang="en-US" sz="1800">
              <a:latin typeface="Calibri"/>
              <a:ea typeface="Arial"/>
              <a:cs typeface="Arial"/>
            </a:endParaRPr>
          </a:p>
          <a:p>
            <a:pPr rtl="0">
              <a:lnSpc>
                <a:spcPts val="1425"/>
              </a:lnSpc>
            </a:pPr>
            <a:r>
              <a:rPr lang="en-GB" sz="1800">
                <a:latin typeface="CMU Sans Serif Medium"/>
                <a:ea typeface="Segoe UI"/>
                <a:cs typeface="Segoe UI"/>
              </a:rPr>
              <a:t>​</a:t>
            </a:r>
          </a:p>
          <a:p>
            <a:pPr algn="l"/>
            <a:endParaRPr lang="en-GB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9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4AA3-153D-CBE1-FFEB-E139B060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DBA6-0906-AFF4-F0AF-1D3E8EA4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MU Sans Serif Medium"/>
              </a:rPr>
              <a:t>SHAP (</a:t>
            </a:r>
            <a:r>
              <a:rPr lang="en-US" sz="2400">
                <a:solidFill>
                  <a:srgbClr val="2F5597"/>
                </a:solidFill>
                <a:latin typeface="CMU Sans Serif Medium"/>
              </a:rPr>
              <a:t>Shapley Additive Explanation)</a:t>
            </a:r>
            <a:r>
              <a:rPr lang="en-US" sz="2400">
                <a:latin typeface="CMU Sans Serif Medium"/>
              </a:rPr>
              <a:t> Interpretability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2E37-1F53-2211-4DC9-43F2FA36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3A04E-E1AB-D776-F128-5CB6B9B9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962543"/>
            <a:ext cx="11464212" cy="4880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latin typeface="CMU Sans Serif Medium"/>
              </a:rPr>
              <a:t>SHAP analysis (Balanced RF &amp; </a:t>
            </a:r>
            <a:r>
              <a:rPr lang="en-GB" sz="2400" err="1">
                <a:latin typeface="CMU Sans Serif Medium"/>
              </a:rPr>
              <a:t>XGBoost</a:t>
            </a:r>
            <a:r>
              <a:rPr lang="en-GB" sz="2400">
                <a:latin typeface="CMU Sans Serif Medium"/>
              </a:rPr>
              <a:t>) identifies the </a:t>
            </a:r>
            <a:r>
              <a:rPr lang="en-GB" sz="2400" b="1">
                <a:latin typeface="CMU Sans Serif Medium"/>
              </a:rPr>
              <a:t>top contributing features</a:t>
            </a:r>
            <a:r>
              <a:rPr lang="en-GB" sz="2400">
                <a:latin typeface="CMU Sans Serif Medium"/>
              </a:rPr>
              <a:t> as:</a:t>
            </a:r>
            <a:br>
              <a:rPr lang="en-GB" sz="2400">
                <a:latin typeface="CMU Sans Serif Medium"/>
              </a:rPr>
            </a:br>
            <a:r>
              <a:rPr lang="en-GB" sz="2400">
                <a:latin typeface="CMU Sans Serif Medium"/>
              </a:rPr>
              <a:t> </a:t>
            </a:r>
            <a:r>
              <a:rPr lang="en-GB" sz="2400" b="1">
                <a:latin typeface="Consolas"/>
              </a:rPr>
              <a:t>V14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V4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V12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V17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V11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V10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V16</a:t>
            </a:r>
            <a:r>
              <a:rPr lang="en-GB" sz="2400" b="1">
                <a:latin typeface="CMU Sans Serif Medium"/>
              </a:rPr>
              <a:t>, and </a:t>
            </a:r>
            <a:r>
              <a:rPr lang="en-GB" sz="2400" b="1">
                <a:latin typeface="Consolas"/>
              </a:rPr>
              <a:t>Amount</a:t>
            </a:r>
            <a:r>
              <a:rPr lang="en-GB" sz="2400">
                <a:latin typeface="CMU Sans Serif Medium"/>
              </a:rPr>
              <a:t>.</a:t>
            </a:r>
            <a:endParaRPr lang="en-US" sz="2400">
              <a:latin typeface="CMU Sans Serif Medium"/>
            </a:endParaRPr>
          </a:p>
          <a:p>
            <a:r>
              <a:rPr lang="en-GB" sz="2400" b="1">
                <a:latin typeface="Consolas"/>
              </a:rPr>
              <a:t>V14</a:t>
            </a:r>
            <a:r>
              <a:rPr lang="en-GB" sz="2400" b="1">
                <a:latin typeface="CMU Sans Serif Medium"/>
              </a:rPr>
              <a:t> and </a:t>
            </a:r>
            <a:r>
              <a:rPr lang="en-GB" sz="2400" b="1">
                <a:latin typeface="Consolas"/>
              </a:rPr>
              <a:t>V17</a:t>
            </a:r>
            <a:r>
              <a:rPr lang="en-GB" sz="2400">
                <a:latin typeface="CMU Sans Serif Medium"/>
              </a:rPr>
              <a:t> show the </a:t>
            </a:r>
            <a:r>
              <a:rPr lang="en-GB" sz="2400" i="1">
                <a:latin typeface="CMU Sans Serif Medium"/>
              </a:rPr>
              <a:t>largest SHAP magnitudes</a:t>
            </a:r>
            <a:r>
              <a:rPr lang="en-GB" sz="2400">
                <a:latin typeface="CMU Sans Serif Medium"/>
              </a:rPr>
              <a:t>, meaning extreme values in these PCA-derived components strongly push predictions toward fraud.</a:t>
            </a:r>
          </a:p>
          <a:p>
            <a:r>
              <a:rPr lang="en-GB" sz="2400">
                <a:latin typeface="CMU Sans Serif Medium"/>
              </a:rPr>
              <a:t>SHAP plots show fraud is driven by </a:t>
            </a:r>
            <a:r>
              <a:rPr lang="en-GB" sz="2400" b="1">
                <a:latin typeface="CMU Sans Serif Medium"/>
              </a:rPr>
              <a:t>multi-dimensional outlier patterns</a:t>
            </a:r>
            <a:r>
              <a:rPr lang="en-GB" sz="2400">
                <a:latin typeface="CMU Sans Serif Medium"/>
              </a:rPr>
              <a:t>, not by a single variable—high deviations in </a:t>
            </a:r>
            <a:r>
              <a:rPr lang="en-GB" sz="2400" b="1">
                <a:latin typeface="Consolas"/>
              </a:rPr>
              <a:t>V4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V12</a:t>
            </a:r>
            <a:r>
              <a:rPr lang="en-GB" sz="2400" b="1">
                <a:latin typeface="CMU Sans Serif Medium"/>
              </a:rPr>
              <a:t>, </a:t>
            </a:r>
            <a:r>
              <a:rPr lang="en-GB" sz="2400" b="1">
                <a:latin typeface="Consolas"/>
              </a:rPr>
              <a:t>V11</a:t>
            </a:r>
            <a:r>
              <a:rPr lang="en-GB" sz="2400" b="1">
                <a:latin typeface="CMU Sans Serif Medium"/>
              </a:rPr>
              <a:t>, and </a:t>
            </a:r>
            <a:r>
              <a:rPr lang="en-GB" sz="2400" b="1">
                <a:latin typeface="Consolas"/>
              </a:rPr>
              <a:t>V10</a:t>
            </a:r>
            <a:r>
              <a:rPr lang="en-GB" sz="2400">
                <a:latin typeface="CMU Sans Serif Medium"/>
              </a:rPr>
              <a:t> consistently increase fraud probability.</a:t>
            </a:r>
            <a:endParaRPr lang="en-GB" sz="2400"/>
          </a:p>
          <a:p>
            <a:r>
              <a:rPr lang="en-GB" sz="2400" b="1">
                <a:latin typeface="CMU Sans Serif Medium"/>
              </a:rPr>
              <a:t>Amount does have SHAP impact</a:t>
            </a:r>
            <a:r>
              <a:rPr lang="en-GB" sz="2400">
                <a:latin typeface="CMU Sans Serif Medium"/>
              </a:rPr>
              <a:t>: unusually high transaction amounts increase fraud risk, but </a:t>
            </a:r>
            <a:r>
              <a:rPr lang="en-GB" sz="2400" b="1">
                <a:latin typeface="CMU Sans Serif Medium"/>
              </a:rPr>
              <a:t>its influence is weaker than the PCA components</a:t>
            </a:r>
            <a:r>
              <a:rPr lang="en-GB" sz="2400">
                <a:latin typeface="CMU Sans Serif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046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8148-3691-86BF-ABCC-18FC27AC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B2DE-68D4-49E5-9498-AEA8D71B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MU Sans Serif Medium"/>
              </a:rPr>
              <a:t>Conclusion</a:t>
            </a: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FFD6C-B8A7-07FD-CA7F-A2769B42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6D002-D10A-1422-223A-11EF2569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962543"/>
            <a:ext cx="11464212" cy="4880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latin typeface="CMU Sans Serif Medium"/>
              </a:rPr>
              <a:t>Built a complete fraud-detection pipeline capable of handling </a:t>
            </a:r>
            <a:r>
              <a:rPr lang="en-GB" sz="2400" i="1">
                <a:latin typeface="CMU Sans Serif Medium"/>
              </a:rPr>
              <a:t>extreme class imbalance</a:t>
            </a:r>
            <a:r>
              <a:rPr lang="en-GB" sz="2400">
                <a:latin typeface="CMU Sans Serif Medium"/>
              </a:rPr>
              <a:t>, achieving reliable detection of rare fraud cases.</a:t>
            </a:r>
            <a:endParaRPr lang="en-GB" sz="2400"/>
          </a:p>
          <a:p>
            <a:r>
              <a:rPr lang="en-GB" sz="2400">
                <a:latin typeface="CMU Sans Serif Medium"/>
              </a:rPr>
              <a:t>Ensemble models—especially </a:t>
            </a:r>
            <a:r>
              <a:rPr lang="en-GB" sz="2400" b="1">
                <a:latin typeface="CMU Sans Serif Medium"/>
              </a:rPr>
              <a:t>Random Forest and Decision Tree</a:t>
            </a:r>
            <a:r>
              <a:rPr lang="en-GB" sz="2400">
                <a:latin typeface="CMU Sans Serif Medium"/>
              </a:rPr>
              <a:t>—proved most effective, capturing complex nonlinear fraud patterns with high precision–recall performance.</a:t>
            </a:r>
            <a:endParaRPr lang="en-GB"/>
          </a:p>
          <a:p>
            <a:r>
              <a:rPr lang="en-GB" sz="2400" b="1">
                <a:latin typeface="CMU Sans Serif Medium"/>
              </a:rPr>
              <a:t>SHAP interpretability</a:t>
            </a:r>
            <a:r>
              <a:rPr lang="en-GB" sz="2400">
                <a:latin typeface="CMU Sans Serif Medium"/>
              </a:rPr>
              <a:t> confirmed that fraud signals arise from extreme values across multiple PCA-derived features, validating the use of nonlinear tree-based models.</a:t>
            </a:r>
            <a:endParaRPr lang="en-GB"/>
          </a:p>
          <a:p>
            <a:r>
              <a:rPr lang="en-GB" sz="2400">
                <a:latin typeface="CMU Sans Serif Medium"/>
              </a:rPr>
              <a:t>Reliable detection of extremely rare fraudulent transactions in a highly imbalanced dataset which was our primary goal.</a:t>
            </a:r>
          </a:p>
        </p:txBody>
      </p:sp>
    </p:spTree>
    <p:extLst>
      <p:ext uri="{BB962C8B-B14F-4D97-AF65-F5344CB8AC3E}">
        <p14:creationId xmlns:p14="http://schemas.microsoft.com/office/powerpoint/2010/main" val="2131882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6C1C-6FBE-0539-05E4-05219043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MU Sans Serif Medium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1274C-B10F-B46E-534C-2338BDF0F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43" y="1193330"/>
            <a:ext cx="10928732" cy="49744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MU Sans Serif Medium"/>
              </a:rPr>
              <a:t>[1] </a:t>
            </a:r>
            <a:r>
              <a:rPr lang="en-US" sz="1800" err="1">
                <a:latin typeface="CMU Sans Serif Medium"/>
              </a:rPr>
              <a:t>Haibo</a:t>
            </a:r>
            <a:r>
              <a:rPr lang="en-US" sz="1800">
                <a:latin typeface="CMU Sans Serif Medium"/>
              </a:rPr>
              <a:t> He and Edwardo A Garcia. “Learning from imbalanced data”. In: IEEE Transactions on knowledge and data engineering 21.9 (2009), pp. 1263–1284</a:t>
            </a:r>
          </a:p>
          <a:p>
            <a:pPr marL="0" indent="0">
              <a:buNone/>
            </a:pPr>
            <a:r>
              <a:rPr lang="en-US" sz="1800">
                <a:latin typeface="CMU Sans Serif Medium"/>
              </a:rPr>
              <a:t>[2] Nitesh V Chawla et al. “SMOTE: synthetic minority over-sampling technique”. In: Journal of artificial intelligence research 16 (2002), pp. 321–357.</a:t>
            </a:r>
          </a:p>
          <a:p>
            <a:pPr marL="0" indent="0">
              <a:buNone/>
            </a:pPr>
            <a:r>
              <a:rPr lang="en-US" sz="1800">
                <a:latin typeface="CMU Sans Serif Medium"/>
              </a:rPr>
              <a:t>[3] Jesse Davis and Mark </a:t>
            </a:r>
            <a:r>
              <a:rPr lang="en-US" sz="1800" err="1">
                <a:latin typeface="CMU Sans Serif Medium"/>
              </a:rPr>
              <a:t>Goadrich</a:t>
            </a:r>
            <a:r>
              <a:rPr lang="en-US" sz="1800">
                <a:latin typeface="CMU Sans Serif Medium"/>
              </a:rPr>
              <a:t>. “The relationship </a:t>
            </a:r>
            <a:r>
              <a:rPr lang="en-US" sz="1800" err="1">
                <a:latin typeface="CMU Sans Serif Medium"/>
              </a:rPr>
              <a:t>btween</a:t>
            </a:r>
            <a:r>
              <a:rPr lang="en-US" sz="1800">
                <a:latin typeface="CMU Sans Serif Medium"/>
              </a:rPr>
              <a:t> Precision-Recall and ROC curves”. In: Proceedings of the 23rd international conference on Machine learning. 2006, pp. 233–240.</a:t>
            </a:r>
          </a:p>
          <a:p>
            <a:pPr marL="0" indent="0">
              <a:buNone/>
            </a:pPr>
            <a:r>
              <a:rPr lang="en-US" sz="1800">
                <a:latin typeface="CMU Sans Serif Medium"/>
              </a:rPr>
              <a:t>[4] Alexandru Niculescu-Mizil and Rich Caruana. “Predicting good probabilities with supervised learning”. In: Proceedings of the 22nd international conference on Machine learning. 2005, pp. 625–632.</a:t>
            </a:r>
          </a:p>
          <a:p>
            <a:pPr marL="0" indent="0">
              <a:buNone/>
            </a:pPr>
            <a:r>
              <a:rPr lang="en-US" sz="1800">
                <a:latin typeface="CMU Sans Serif Medium"/>
              </a:rPr>
              <a:t>[5] Gajula Lakshmi Sahithi et al. “Credit card fraud detection using ensemble methods in machine learning”. In: 2022 6th International conference on trends in electronics and informatics (ICOEI). IEEE. 2022, pp. 1237–1241.</a:t>
            </a:r>
          </a:p>
          <a:p>
            <a:pPr marL="0" indent="0">
              <a:buNone/>
            </a:pPr>
            <a:r>
              <a:rPr lang="en-US" sz="1800">
                <a:latin typeface="CMU Sans Serif Medium"/>
              </a:rPr>
              <a:t>[6] Dejan </a:t>
            </a:r>
            <a:r>
              <a:rPr lang="en-US" sz="1800" err="1">
                <a:latin typeface="CMU Sans Serif Medium"/>
              </a:rPr>
              <a:t>Varmedja</a:t>
            </a:r>
            <a:r>
              <a:rPr lang="en-US" sz="1800">
                <a:latin typeface="CMU Sans Serif Medium"/>
              </a:rPr>
              <a:t> et al. “Credit card fraud detection machine learning methods”. In: 2019 18th International Symposium </a:t>
            </a:r>
            <a:r>
              <a:rPr lang="en-US" sz="1800" err="1">
                <a:latin typeface="CMU Sans Serif Medium"/>
              </a:rPr>
              <a:t>Infoteh-Jahorina</a:t>
            </a:r>
            <a:r>
              <a:rPr lang="en-US" sz="1800">
                <a:latin typeface="CMU Sans Serif Medium"/>
              </a:rPr>
              <a:t> (</a:t>
            </a:r>
            <a:r>
              <a:rPr lang="en-US" sz="1800" err="1">
                <a:latin typeface="CMU Sans Serif Medium"/>
              </a:rPr>
              <a:t>Infoteh</a:t>
            </a:r>
            <a:r>
              <a:rPr lang="en-US" sz="1800">
                <a:latin typeface="CMU Sans Serif Medium"/>
              </a:rPr>
              <a:t>). IEEE. 2019, pp. 1–5.</a:t>
            </a:r>
          </a:p>
          <a:p>
            <a:pPr marL="0" indent="0">
              <a:buNone/>
            </a:pPr>
            <a:endParaRPr lang="en-US" sz="1800">
              <a:latin typeface="CMU Sans Serif Medium"/>
            </a:endParaRPr>
          </a:p>
          <a:p>
            <a:pPr marL="0" indent="0">
              <a:buNone/>
            </a:pPr>
            <a:endParaRPr lang="en-US" sz="1800">
              <a:latin typeface="CMU Sans Serif Mediu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A63AB-BB9C-2C51-B5D5-118CC0D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0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1D565-C54C-417F-D9AE-A4BF2C3D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04EE4-2D61-45B6-A418-84D4CD2C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7D7F1-89F3-584A-8F95-A77F8B5A1E0D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DC148-5E3C-258D-D0A6-4D4EE447B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2" y="2140666"/>
            <a:ext cx="8845580" cy="17796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GB" sz="3600" b="1">
                <a:latin typeface="CMU Sans Serif Medium"/>
              </a:rPr>
              <a:t>Thank You </a:t>
            </a:r>
            <a:endParaRPr lang="en-US" sz="3600"/>
          </a:p>
          <a:p>
            <a:pPr marL="0" indent="0" algn="ctr">
              <a:buNone/>
            </a:pPr>
            <a:r>
              <a:rPr lang="en-GB" sz="3600" b="1">
                <a:latin typeface="CMU Sans Serif Medium"/>
              </a:rPr>
              <a:t>Open for feedback</a:t>
            </a:r>
            <a:endParaRPr lang="en-GB" sz="3600" b="1"/>
          </a:p>
        </p:txBody>
      </p:sp>
    </p:spTree>
    <p:extLst>
      <p:ext uri="{BB962C8B-B14F-4D97-AF65-F5344CB8AC3E}">
        <p14:creationId xmlns:p14="http://schemas.microsoft.com/office/powerpoint/2010/main" val="202485448"/>
      </p:ext>
    </p:extLst>
  </p:cSld>
  <p:clrMapOvr>
    <a:masterClrMapping/>
  </p:clrMapOvr>
</p:sld>
</file>

<file path=ppt/theme/theme1.xml><?xml version="1.0" encoding="utf-8"?>
<a:theme xmlns:a="http://schemas.openxmlformats.org/drawingml/2006/main" name="fdsc_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CMU Sans Serif Medium" panose="02000603000000000000" pitchFamily="2" charset="0"/>
            <a:ea typeface="CMU Sans Serif Medium" panose="02000603000000000000" pitchFamily="2" charset="0"/>
            <a:cs typeface="CMU Sans Serif Medium" panose="02000603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fdsc_master</vt:lpstr>
      <vt:lpstr>Credit card fraud detection: A Machine learning Approach </vt:lpstr>
      <vt:lpstr>Motivation</vt:lpstr>
      <vt:lpstr>Problem Definition</vt:lpstr>
      <vt:lpstr>Dataset Description</vt:lpstr>
      <vt:lpstr>Dataset Description</vt:lpstr>
      <vt:lpstr>Challenge </vt:lpstr>
      <vt:lpstr>Related works</vt:lpstr>
      <vt:lpstr>Methodology</vt:lpstr>
      <vt:lpstr>Imbalance Techniques</vt:lpstr>
      <vt:lpstr>Model architecture</vt:lpstr>
      <vt:lpstr>Evaluation Matrix </vt:lpstr>
      <vt:lpstr>Result Analysis</vt:lpstr>
      <vt:lpstr>Result Analysis</vt:lpstr>
      <vt:lpstr>Result Analysis</vt:lpstr>
      <vt:lpstr>SHAP (Shapley Additive Explanation) Interpretability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Vincent Foti (dvfoti)</dc:creator>
  <cp:revision>2</cp:revision>
  <dcterms:created xsi:type="dcterms:W3CDTF">2025-11-13T17:53:34Z</dcterms:created>
  <dcterms:modified xsi:type="dcterms:W3CDTF">2025-12-03T05:05:18Z</dcterms:modified>
</cp:coreProperties>
</file>